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C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3" name="star_1"/>
          <p:cNvSpPr/>
          <p:nvPr/>
        </p:nvSpPr>
        <p:spPr>
          <a:xfrm>
            <a:off x="9601200" y="10972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FCF1"/>
                </a:solidFill>
              </a:rPr>
              <a:t>·</a:t>
            </a:r>
            <a:endParaRPr lang="en-US" sz="1000" dirty="0"/>
          </a:p>
        </p:txBody>
      </p:sp>
      <p:sp>
        <p:nvSpPr>
          <p:cNvPr id="4" name="star_2"/>
          <p:cNvSpPr/>
          <p:nvPr/>
        </p:nvSpPr>
        <p:spPr>
          <a:xfrm>
            <a:off x="2103120" y="53035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5A29E"/>
                </a:solidFill>
              </a:rPr>
              <a:t>·</a:t>
            </a:r>
            <a:endParaRPr lang="en-US" sz="800" dirty="0"/>
          </a:p>
        </p:txBody>
      </p:sp>
      <p:sp>
        <p:nvSpPr>
          <p:cNvPr id="5" name="star_3"/>
          <p:cNvSpPr/>
          <p:nvPr/>
        </p:nvSpPr>
        <p:spPr>
          <a:xfrm>
            <a:off x="10789920" y="4114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66FCF1"/>
                </a:solidFill>
              </a:rPr>
              <a:t>·</a:t>
            </a:r>
            <a:endParaRPr lang="en-US" sz="600" dirty="0"/>
          </a:p>
        </p:txBody>
      </p:sp>
      <p:sp>
        <p:nvSpPr>
          <p:cNvPr id="6" name="star_4"/>
          <p:cNvSpPr/>
          <p:nvPr/>
        </p:nvSpPr>
        <p:spPr>
          <a:xfrm>
            <a:off x="1371600" y="16459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5A29E"/>
                </a:solidFill>
              </a:rPr>
              <a:t>·</a:t>
            </a:r>
            <a:endParaRPr lang="en-US" sz="700" dirty="0"/>
          </a:p>
        </p:txBody>
      </p:sp>
      <p:sp>
        <p:nvSpPr>
          <p:cNvPr id="7" name="title_main"/>
          <p:cNvSpPr/>
          <p:nvPr/>
        </p:nvSpPr>
        <p:spPr>
          <a:xfrm>
            <a:off x="1371600" y="1645920"/>
            <a:ext cx="94183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66FCF1"/>
                </a:solidFill>
              </a:rPr>
              <a:t>DeepSeek</a:t>
            </a:r>
            <a:endParaRPr lang="en-US" sz="8000" dirty="0"/>
          </a:p>
        </p:txBody>
      </p:sp>
      <p:sp>
        <p:nvSpPr>
          <p:cNvPr id="8" name="subtitle_cn"/>
          <p:cNvSpPr/>
          <p:nvPr/>
        </p:nvSpPr>
        <p:spPr>
          <a:xfrm>
            <a:off x="1371600" y="329184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</a:rPr>
              <a:t>深 度 求 索</a:t>
            </a:r>
            <a:endParaRPr lang="en-US" sz="3200" dirty="0"/>
          </a:p>
        </p:txBody>
      </p:sp>
      <p:sp>
        <p:nvSpPr>
          <p:cNvPr id="9" name="tagline"/>
          <p:cNvSpPr/>
          <p:nvPr/>
        </p:nvSpPr>
        <p:spPr>
          <a:xfrm>
            <a:off x="2286000" y="411480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5C6C7"/>
                </a:solidFill>
              </a:rPr>
              <a:t>从量化基金到全球 AI 先锋 · 一段传奇征程</a:t>
            </a:r>
            <a:endParaRPr lang="en-US" sz="1500" dirty="0"/>
          </a:p>
        </p:txBody>
      </p:sp>
      <p:sp>
        <p:nvSpPr>
          <p:cNvPr id="10" name="accent_bar"/>
          <p:cNvSpPr/>
          <p:nvPr/>
        </p:nvSpPr>
        <p:spPr>
          <a:xfrm>
            <a:off x="4114800" y="4754880"/>
            <a:ext cx="3931920" cy="36576"/>
          </a:xfrm>
          <a:prstGeom prst="rect">
            <a:avLst/>
          </a:prstGeom>
          <a:solidFill>
            <a:srgbClr val="66FC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1" name="credit"/>
          <p:cNvSpPr/>
          <p:nvPr/>
        </p:nvSpPr>
        <p:spPr>
          <a:xfrm>
            <a:off x="4114800" y="5029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5A29E"/>
                </a:solidFill>
              </a:rPr>
              <a:t>2023 ——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C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3" name="star_1"/>
          <p:cNvSpPr/>
          <p:nvPr/>
        </p:nvSpPr>
        <p:spPr>
          <a:xfrm>
            <a:off x="2743200" y="5943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FCF1"/>
                </a:solidFill>
              </a:rPr>
              <a:t>·</a:t>
            </a:r>
            <a:endParaRPr lang="en-US" sz="1000" dirty="0"/>
          </a:p>
        </p:txBody>
      </p:sp>
      <p:sp>
        <p:nvSpPr>
          <p:cNvPr id="4" name="star_2"/>
          <p:cNvSpPr/>
          <p:nvPr/>
        </p:nvSpPr>
        <p:spPr>
          <a:xfrm>
            <a:off x="10058400" y="914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5A29E"/>
                </a:solidFill>
              </a:rPr>
              <a:t>·</a:t>
            </a:r>
            <a:endParaRPr lang="en-US" sz="800" dirty="0"/>
          </a:p>
        </p:txBody>
      </p:sp>
      <p:sp>
        <p:nvSpPr>
          <p:cNvPr id="5" name="section_tag"/>
          <p:cNvSpPr/>
          <p:nvPr/>
        </p:nvSpPr>
        <p:spPr>
          <a:xfrm>
            <a:off x="822960" y="457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A29E"/>
                </a:solidFill>
              </a:rPr>
              <a:t>序  幕</a:t>
            </a:r>
            <a:endParaRPr lang="en-US" sz="1300" dirty="0"/>
          </a:p>
        </p:txBody>
      </p:sp>
      <p:sp>
        <p:nvSpPr>
          <p:cNvPr id="6" name="year_display"/>
          <p:cNvSpPr/>
          <p:nvPr/>
        </p:nvSpPr>
        <p:spPr>
          <a:xfrm>
            <a:off x="7772400" y="109728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66FCF1"/>
                </a:solidFill>
              </a:rPr>
              <a:t>2016</a:t>
            </a:r>
            <a:endParaRPr lang="en-US" sz="7200" dirty="0"/>
          </a:p>
        </p:txBody>
      </p:sp>
      <p:sp>
        <p:nvSpPr>
          <p:cNvPr id="7" name="title_text"/>
          <p:cNvSpPr/>
          <p:nvPr/>
        </p:nvSpPr>
        <p:spPr>
          <a:xfrm>
            <a:off x="822960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幻方量化  High-Flyer</a:t>
            </a:r>
            <a:endParaRPr lang="en-US" sz="3000" dirty="0"/>
          </a:p>
        </p:txBody>
      </p:sp>
      <p:sp>
        <p:nvSpPr>
          <p:cNvPr id="8" name="body_text"/>
          <p:cNvSpPr/>
          <p:nvPr/>
        </p:nvSpPr>
        <p:spPr>
          <a:xfrm>
            <a:off x="822960" y="3108960"/>
            <a:ext cx="5943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梁文锋创立量化对冲基金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以机器学习驱动交易决策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在 AI 芯片禁令前悄然布局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囤积 10,000 张 NVIDIA A100 GPU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为日后的 AI 突破埋下关键火种</a:t>
            </a:r>
            <a:endParaRPr lang="en-US" sz="1600" dirty="0"/>
          </a:p>
        </p:txBody>
      </p:sp>
      <p:sp>
        <p:nvSpPr>
          <p:cNvPr id="9" name="accent_bar"/>
          <p:cNvSpPr/>
          <p:nvPr/>
        </p:nvSpPr>
        <p:spPr>
          <a:xfrm>
            <a:off x="822960" y="5943600"/>
            <a:ext cx="2286000" cy="36576"/>
          </a:xfrm>
          <a:prstGeom prst="rect">
            <a:avLst/>
          </a:prstGeom>
          <a:solidFill>
            <a:srgbClr val="66FC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0" name="page_num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A29E"/>
                </a:solidFill>
              </a:rPr>
              <a:t>02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C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3" name="star_1"/>
          <p:cNvSpPr/>
          <p:nvPr/>
        </p:nvSpPr>
        <p:spPr>
          <a:xfrm>
            <a:off x="1645920" y="5486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FCF1"/>
                </a:solidFill>
              </a:rPr>
              <a:t>·</a:t>
            </a:r>
            <a:endParaRPr lang="en-US" sz="1000" dirty="0"/>
          </a:p>
        </p:txBody>
      </p:sp>
      <p:sp>
        <p:nvSpPr>
          <p:cNvPr id="4" name="star_2"/>
          <p:cNvSpPr/>
          <p:nvPr/>
        </p:nvSpPr>
        <p:spPr>
          <a:xfrm>
            <a:off x="8686800" y="1371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5A29E"/>
                </a:solidFill>
              </a:rPr>
              <a:t>·</a:t>
            </a:r>
            <a:endParaRPr lang="en-US" sz="600" dirty="0"/>
          </a:p>
        </p:txBody>
      </p:sp>
      <p:sp>
        <p:nvSpPr>
          <p:cNvPr id="5" name="section_tag"/>
          <p:cNvSpPr/>
          <p:nvPr/>
        </p:nvSpPr>
        <p:spPr>
          <a:xfrm>
            <a:off x="822960" y="457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A29E"/>
                </a:solidFill>
              </a:rPr>
              <a:t>序  幕</a:t>
            </a:r>
            <a:endParaRPr lang="en-US" sz="1300" dirty="0"/>
          </a:p>
        </p:txBody>
      </p:sp>
      <p:sp>
        <p:nvSpPr>
          <p:cNvPr id="6" name="year_display"/>
          <p:cNvSpPr/>
          <p:nvPr/>
        </p:nvSpPr>
        <p:spPr>
          <a:xfrm>
            <a:off x="7132320" y="10972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800" b="1" dirty="0">
                <a:solidFill>
                  <a:srgbClr val="F2C94C"/>
                </a:solidFill>
              </a:rPr>
              <a:t>10,000</a:t>
            </a:r>
            <a:endParaRPr lang="en-US" sz="6800" dirty="0"/>
          </a:p>
        </p:txBody>
      </p:sp>
      <p:sp>
        <p:nvSpPr>
          <p:cNvPr id="7" name="title_text"/>
          <p:cNvSpPr/>
          <p:nvPr/>
        </p:nvSpPr>
        <p:spPr>
          <a:xfrm>
            <a:off x="822960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GPU 武器库</a:t>
            </a:r>
            <a:endParaRPr lang="en-US" sz="3000" dirty="0"/>
          </a:p>
        </p:txBody>
      </p:sp>
      <p:sp>
        <p:nvSpPr>
          <p:cNvPr id="8" name="body_text"/>
          <p:cNvSpPr/>
          <p:nvPr/>
        </p:nvSpPr>
        <p:spPr>
          <a:xfrm>
            <a:off x="822960" y="310896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在美国对华 AI 芯片禁令生效前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High-Flyer 已秘密购入万张 A100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这批 GPU 成为 DeepSeek 的核武库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当其他中国公司被制裁扼住咽喉时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DeepSeek 拥有了训练前沿模型的能力</a:t>
            </a:r>
            <a:endParaRPr lang="en-US" sz="1600" dirty="0"/>
          </a:p>
        </p:txBody>
      </p:sp>
      <p:sp>
        <p:nvSpPr>
          <p:cNvPr id="9" name="quote_text"/>
          <p:cNvSpPr/>
          <p:nvPr/>
        </p:nvSpPr>
        <p:spPr>
          <a:xfrm>
            <a:off x="822960" y="53035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2C94C"/>
                </a:solidFill>
              </a:rPr>
              <a:t>「算力是新时代的石油」</a:t>
            </a:r>
            <a:endParaRPr lang="en-US" sz="1800" dirty="0"/>
          </a:p>
        </p:txBody>
      </p:sp>
      <p:sp>
        <p:nvSpPr>
          <p:cNvPr id="10" name="accent_bar"/>
          <p:cNvSpPr/>
          <p:nvPr/>
        </p:nvSpPr>
        <p:spPr>
          <a:xfrm>
            <a:off x="822960" y="5943600"/>
            <a:ext cx="2286000" cy="36576"/>
          </a:xfrm>
          <a:prstGeom prst="rect">
            <a:avLst/>
          </a:prstGeom>
          <a:solidFill>
            <a:srgbClr val="F2C9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1" name="page_num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A29E"/>
                </a:solidFill>
              </a:rPr>
              <a:t>03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C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3" name="star_1"/>
          <p:cNvSpPr/>
          <p:nvPr/>
        </p:nvSpPr>
        <p:spPr>
          <a:xfrm>
            <a:off x="10972800" y="1828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FCF1"/>
                </a:solidFill>
              </a:rPr>
              <a:t>·</a:t>
            </a:r>
            <a:endParaRPr lang="en-US" sz="1200" dirty="0"/>
          </a:p>
        </p:txBody>
      </p:sp>
      <p:sp>
        <p:nvSpPr>
          <p:cNvPr id="4" name="star_2"/>
          <p:cNvSpPr/>
          <p:nvPr/>
        </p:nvSpPr>
        <p:spPr>
          <a:xfrm>
            <a:off x="1828800" y="57607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5A29E"/>
                </a:solidFill>
              </a:rPr>
              <a:t>·</a:t>
            </a:r>
            <a:endParaRPr lang="en-US" sz="800" dirty="0"/>
          </a:p>
        </p:txBody>
      </p:sp>
      <p:sp>
        <p:nvSpPr>
          <p:cNvPr id="5" name="section_tag"/>
          <p:cNvSpPr/>
          <p:nvPr/>
        </p:nvSpPr>
        <p:spPr>
          <a:xfrm>
            <a:off x="822960" y="457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FCF1"/>
                </a:solidFill>
              </a:rPr>
              <a:t>诞  生</a:t>
            </a:r>
            <a:endParaRPr lang="en-US" sz="1300" dirty="0"/>
          </a:p>
        </p:txBody>
      </p:sp>
      <p:sp>
        <p:nvSpPr>
          <p:cNvPr id="6" name="year_display"/>
          <p:cNvSpPr/>
          <p:nvPr/>
        </p:nvSpPr>
        <p:spPr>
          <a:xfrm>
            <a:off x="7498080" y="10972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66FCF1"/>
                </a:solidFill>
              </a:rPr>
              <a:t>2023.07</a:t>
            </a:r>
            <a:endParaRPr lang="en-US" sz="6400" dirty="0"/>
          </a:p>
        </p:txBody>
      </p:sp>
      <p:sp>
        <p:nvSpPr>
          <p:cNvPr id="7" name="title_text"/>
          <p:cNvSpPr/>
          <p:nvPr/>
        </p:nvSpPr>
        <p:spPr>
          <a:xfrm>
            <a:off x="822960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DeepSeek 正式成立</a:t>
            </a:r>
            <a:endParaRPr lang="en-US" sz="3000" dirty="0"/>
          </a:p>
        </p:txBody>
      </p:sp>
      <p:sp>
        <p:nvSpPr>
          <p:cNvPr id="8" name="body_text"/>
          <p:cNvSpPr/>
          <p:nvPr/>
        </p:nvSpPr>
        <p:spPr>
          <a:xfrm>
            <a:off x="822960" y="310896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从幻方量化独立拆分 · 总部杭州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创始人 &amp; CEO：梁文锋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使命：探索 AGI 底层技术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不做应用、不追风口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只专注于通用人工智能的基础研究</a:t>
            </a:r>
            <a:endParaRPr lang="en-US" sz="1600" dirty="0"/>
          </a:p>
        </p:txBody>
      </p:sp>
      <p:sp>
        <p:nvSpPr>
          <p:cNvPr id="9" name="highlight_box"/>
          <p:cNvSpPr/>
          <p:nvPr/>
        </p:nvSpPr>
        <p:spPr>
          <a:xfrm>
            <a:off x="7132320" y="5029200"/>
            <a:ext cx="4114800" cy="6400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94C"/>
                </a:solidFill>
              </a:rPr>
              <a:t>全额自筹资金 · 不依赖 VC</a:t>
            </a:r>
            <a:endParaRPr lang="en-US" sz="1600" dirty="0"/>
          </a:p>
        </p:txBody>
      </p:sp>
      <p:sp>
        <p:nvSpPr>
          <p:cNvPr id="10" name="accent_bar"/>
          <p:cNvSpPr/>
          <p:nvPr/>
        </p:nvSpPr>
        <p:spPr>
          <a:xfrm>
            <a:off x="822960" y="5943600"/>
            <a:ext cx="2286000" cy="36576"/>
          </a:xfrm>
          <a:prstGeom prst="rect">
            <a:avLst/>
          </a:prstGeom>
          <a:solidFill>
            <a:srgbClr val="66FC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1" name="page_num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A29E"/>
                </a:solidFill>
              </a:rPr>
              <a:t>04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C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3" name="star_1"/>
          <p:cNvSpPr/>
          <p:nvPr/>
        </p:nvSpPr>
        <p:spPr>
          <a:xfrm>
            <a:off x="9144000" y="7315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FCF1"/>
                </a:solidFill>
              </a:rPr>
              <a:t>·</a:t>
            </a:r>
            <a:endParaRPr lang="en-US" sz="900" dirty="0"/>
          </a:p>
        </p:txBody>
      </p:sp>
      <p:sp>
        <p:nvSpPr>
          <p:cNvPr id="4" name="star_2"/>
          <p:cNvSpPr/>
          <p:nvPr/>
        </p:nvSpPr>
        <p:spPr>
          <a:xfrm>
            <a:off x="1097280" y="50292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5A29E"/>
                </a:solidFill>
              </a:rPr>
              <a:t>·</a:t>
            </a:r>
            <a:endParaRPr lang="en-US" sz="700" dirty="0"/>
          </a:p>
        </p:txBody>
      </p:sp>
      <p:sp>
        <p:nvSpPr>
          <p:cNvPr id="5" name="section_tag"/>
          <p:cNvSpPr/>
          <p:nvPr/>
        </p:nvSpPr>
        <p:spPr>
          <a:xfrm>
            <a:off x="822960" y="457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A29E"/>
                </a:solidFill>
              </a:rPr>
              <a:t>首  秀</a:t>
            </a:r>
            <a:endParaRPr lang="en-US" sz="1300" dirty="0"/>
          </a:p>
        </p:txBody>
      </p:sp>
      <p:sp>
        <p:nvSpPr>
          <p:cNvPr id="6" name="year_display"/>
          <p:cNvSpPr/>
          <p:nvPr/>
        </p:nvSpPr>
        <p:spPr>
          <a:xfrm>
            <a:off x="7498080" y="10972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800" b="1" dirty="0">
                <a:solidFill>
                  <a:srgbClr val="66FCF1"/>
                </a:solidFill>
              </a:rPr>
              <a:t>2023.11</a:t>
            </a:r>
            <a:endParaRPr lang="en-US" sz="5800" dirty="0"/>
          </a:p>
        </p:txBody>
      </p:sp>
      <p:sp>
        <p:nvSpPr>
          <p:cNvPr id="7" name="title_text"/>
          <p:cNvSpPr/>
          <p:nvPr/>
        </p:nvSpPr>
        <p:spPr>
          <a:xfrm>
            <a:off x="822960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首批开源模型发布</a:t>
            </a:r>
            <a:endParaRPr lang="en-US" sz="3000" dirty="0"/>
          </a:p>
        </p:txBody>
      </p:sp>
      <p:sp>
        <p:nvSpPr>
          <p:cNvPr id="8" name="model_card_1"/>
          <p:cNvSpPr/>
          <p:nvPr/>
        </p:nvSpPr>
        <p:spPr>
          <a:xfrm>
            <a:off x="822960" y="3200400"/>
            <a:ext cx="2743200" cy="164592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6FCF1"/>
                </a:solidFill>
              </a:rPr>
              <a:t>DeepSeek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66FCF1"/>
                </a:solidFill>
              </a:rPr>
              <a:t>Coder</a:t>
            </a:r>
            <a:endParaRPr lang="en-US" sz="2200" dirty="0"/>
          </a:p>
        </p:txBody>
      </p:sp>
      <p:sp>
        <p:nvSpPr>
          <p:cNvPr id="9" name="model_card_2"/>
          <p:cNvSpPr/>
          <p:nvPr/>
        </p:nvSpPr>
        <p:spPr>
          <a:xfrm>
            <a:off x="3931920" y="3200400"/>
            <a:ext cx="2743200" cy="164592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5A29E"/>
                </a:solidFill>
              </a:rPr>
              <a:t>DeepSeek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45A29E"/>
                </a:solidFill>
              </a:rPr>
              <a:t>LLM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45A29E"/>
                </a:solidFill>
              </a:rPr>
              <a:t>7B / 67B</a:t>
            </a:r>
            <a:endParaRPr lang="en-US" sz="2000" dirty="0"/>
          </a:p>
        </p:txBody>
      </p:sp>
      <p:sp>
        <p:nvSpPr>
          <p:cNvPr id="10" name="body_text"/>
          <p:cNvSpPr/>
          <p:nvPr/>
        </p:nvSpPr>
        <p:spPr>
          <a:xfrm>
            <a:off x="822960" y="5029200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5C6C7"/>
                </a:solidFill>
              </a:rPr>
              <a:t>代码生成 · 通用语言模型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5C6C7"/>
                </a:solidFill>
              </a:rPr>
              <a:t>开源权重 + 技术报告公开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5C6C7"/>
                </a:solidFill>
              </a:rPr>
              <a:t>确立「开放透明」的研究风格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5C6C7"/>
                </a:solidFill>
              </a:rPr>
              <a:t>为后续爆发奠定基础</a:t>
            </a:r>
            <a:endParaRPr lang="en-US" sz="1500" dirty="0"/>
          </a:p>
        </p:txBody>
      </p:sp>
      <p:sp>
        <p:nvSpPr>
          <p:cNvPr id="11" name="accent_bar"/>
          <p:cNvSpPr/>
          <p:nvPr/>
        </p:nvSpPr>
        <p:spPr>
          <a:xfrm>
            <a:off x="822960" y="5943600"/>
            <a:ext cx="2286000" cy="36576"/>
          </a:xfrm>
          <a:prstGeom prst="rect">
            <a:avLst/>
          </a:prstGeom>
          <a:solidFill>
            <a:srgbClr val="66FC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2" name="page_num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A29E"/>
                </a:solidFill>
              </a:rPr>
              <a:t>05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C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3" name="star_1"/>
          <p:cNvSpPr/>
          <p:nvPr/>
        </p:nvSpPr>
        <p:spPr>
          <a:xfrm>
            <a:off x="10515600" y="3200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FCF1"/>
                </a:solidFill>
              </a:rPr>
              <a:t>·</a:t>
            </a:r>
            <a:endParaRPr lang="en-US" sz="1100" dirty="0"/>
          </a:p>
        </p:txBody>
      </p:sp>
      <p:sp>
        <p:nvSpPr>
          <p:cNvPr id="4" name="star_2"/>
          <p:cNvSpPr/>
          <p:nvPr/>
        </p:nvSpPr>
        <p:spPr>
          <a:xfrm>
            <a:off x="2743200" y="914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5A29E"/>
                </a:solidFill>
              </a:rPr>
              <a:t>·</a:t>
            </a:r>
            <a:endParaRPr lang="en-US" sz="600" dirty="0"/>
          </a:p>
        </p:txBody>
      </p:sp>
      <p:sp>
        <p:nvSpPr>
          <p:cNvPr id="5" name="section_tag"/>
          <p:cNvSpPr/>
          <p:nvPr/>
        </p:nvSpPr>
        <p:spPr>
          <a:xfrm>
            <a:off x="822960" y="457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</a:rPr>
              <a:t>2024</a:t>
            </a:r>
            <a:endParaRPr lang="en-US" sz="1300" dirty="0"/>
          </a:p>
        </p:txBody>
      </p:sp>
      <p:sp>
        <p:nvSpPr>
          <p:cNvPr id="6" name="year_display"/>
          <p:cNvSpPr/>
          <p:nvPr/>
        </p:nvSpPr>
        <p:spPr>
          <a:xfrm>
            <a:off x="8686800" y="10972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200" b="1" dirty="0">
                <a:solidFill>
                  <a:srgbClr val="F2C94C"/>
                </a:solidFill>
              </a:rPr>
              <a:t>MoE</a:t>
            </a:r>
            <a:endParaRPr lang="en-US" sz="7200" dirty="0"/>
          </a:p>
        </p:txBody>
      </p:sp>
      <p:sp>
        <p:nvSpPr>
          <p:cNvPr id="7" name="title_text"/>
          <p:cNvSpPr/>
          <p:nvPr/>
        </p:nvSpPr>
        <p:spPr>
          <a:xfrm>
            <a:off x="822960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混合专家架构登场</a:t>
            </a:r>
            <a:endParaRPr lang="en-US" sz="3000" dirty="0"/>
          </a:p>
        </p:txBody>
      </p:sp>
      <p:sp>
        <p:nvSpPr>
          <p:cNvPr id="8" name="body_text"/>
          <p:cNvSpPr/>
          <p:nvPr/>
        </p:nvSpPr>
        <p:spPr>
          <a:xfrm>
            <a:off x="822960" y="3108960"/>
            <a:ext cx="5943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DeepSeek-MoE（1月）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首个混合专家模型发布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DeepSeek-Math（4月）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数学推理专用模型 · 三项版本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技术路线开始加速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从追随者向创新者转变</a:t>
            </a:r>
            <a:endParaRPr lang="en-US" sz="1600" dirty="0"/>
          </a:p>
        </p:txBody>
      </p:sp>
      <p:sp>
        <p:nvSpPr>
          <p:cNvPr id="9" name="accent_bar"/>
          <p:cNvSpPr/>
          <p:nvPr/>
        </p:nvSpPr>
        <p:spPr>
          <a:xfrm>
            <a:off x="822960" y="5943600"/>
            <a:ext cx="2286000" cy="36576"/>
          </a:xfrm>
          <a:prstGeom prst="rect">
            <a:avLst/>
          </a:prstGeom>
          <a:solidFill>
            <a:srgbClr val="F2C9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0" name="page_num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A29E"/>
                </a:solidFill>
              </a:rPr>
              <a:t>06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C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3" name="star_1"/>
          <p:cNvSpPr/>
          <p:nvPr/>
        </p:nvSpPr>
        <p:spPr>
          <a:xfrm>
            <a:off x="2286000" y="62179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FCF1"/>
                </a:solidFill>
              </a:rPr>
              <a:t>·</a:t>
            </a:r>
            <a:endParaRPr lang="en-US" sz="1000" dirty="0"/>
          </a:p>
        </p:txBody>
      </p:sp>
      <p:sp>
        <p:nvSpPr>
          <p:cNvPr id="4" name="star_2"/>
          <p:cNvSpPr/>
          <p:nvPr/>
        </p:nvSpPr>
        <p:spPr>
          <a:xfrm>
            <a:off x="10972800" y="16459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5A29E"/>
                </a:solidFill>
              </a:rPr>
              <a:t>·</a:t>
            </a:r>
            <a:endParaRPr lang="en-US" sz="700" dirty="0"/>
          </a:p>
        </p:txBody>
      </p:sp>
      <p:sp>
        <p:nvSpPr>
          <p:cNvPr id="5" name="section_tag"/>
          <p:cNvSpPr/>
          <p:nvPr/>
        </p:nvSpPr>
        <p:spPr>
          <a:xfrm>
            <a:off x="822960" y="457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FCF1"/>
                </a:solidFill>
              </a:rPr>
              <a:t>突  破</a:t>
            </a:r>
            <a:endParaRPr lang="en-US" sz="1300" dirty="0"/>
          </a:p>
        </p:txBody>
      </p:sp>
      <p:sp>
        <p:nvSpPr>
          <p:cNvPr id="6" name="year_display"/>
          <p:cNvSpPr/>
          <p:nvPr/>
        </p:nvSpPr>
        <p:spPr>
          <a:xfrm>
            <a:off x="7315200" y="10972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800" b="1" dirty="0">
                <a:solidFill>
                  <a:srgbClr val="66FCF1"/>
                </a:solidFill>
              </a:rPr>
              <a:t>2024.05</a:t>
            </a:r>
            <a:endParaRPr lang="en-US" sz="5800" dirty="0"/>
          </a:p>
        </p:txBody>
      </p:sp>
      <p:sp>
        <p:nvSpPr>
          <p:cNvPr id="7" name="title_text"/>
          <p:cNvSpPr/>
          <p:nvPr/>
        </p:nvSpPr>
        <p:spPr>
          <a:xfrm>
            <a:off x="822960" y="2377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DeepSeek-V2  引发价格战</a:t>
            </a:r>
            <a:endParaRPr lang="en-US" sz="3000" dirty="0"/>
          </a:p>
        </p:txBody>
      </p:sp>
      <p:sp>
        <p:nvSpPr>
          <p:cNvPr id="8" name="body_text"/>
          <p:cNvSpPr/>
          <p:nvPr/>
        </p:nvSpPr>
        <p:spPr>
          <a:xfrm>
            <a:off x="822960" y="310896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革命性 MLA 多头潜在注意力架构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推理成本断崖式下降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API 定价仅为 GPT-4 的 1%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阿里、百度被迫降价 95% 以上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中国 AI 行业「价格战」全面爆发</a:t>
            </a:r>
            <a:endParaRPr lang="en-US" sz="1600" dirty="0"/>
          </a:p>
        </p:txBody>
      </p:sp>
      <p:sp>
        <p:nvSpPr>
          <p:cNvPr id="9" name="highlight_box"/>
          <p:cNvSpPr/>
          <p:nvPr/>
        </p:nvSpPr>
        <p:spPr>
          <a:xfrm>
            <a:off x="7132320" y="5029200"/>
            <a:ext cx="4114800" cy="6400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2C94C"/>
                </a:solidFill>
              </a:rPr>
              <a:t>💥  中国 AI 价格战引爆点</a:t>
            </a:r>
            <a:endParaRPr lang="en-US" sz="1600" dirty="0"/>
          </a:p>
        </p:txBody>
      </p:sp>
      <p:sp>
        <p:nvSpPr>
          <p:cNvPr id="10" name="accent_bar"/>
          <p:cNvSpPr/>
          <p:nvPr/>
        </p:nvSpPr>
        <p:spPr>
          <a:xfrm>
            <a:off x="822960" y="5943600"/>
            <a:ext cx="2286000" cy="36576"/>
          </a:xfrm>
          <a:prstGeom prst="rect">
            <a:avLst/>
          </a:prstGeom>
          <a:solidFill>
            <a:srgbClr val="66FC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1" name="page_num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A29E"/>
                </a:solidFill>
              </a:rPr>
              <a:t>07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C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3" name="star_1"/>
          <p:cNvSpPr/>
          <p:nvPr/>
        </p:nvSpPr>
        <p:spPr>
          <a:xfrm>
            <a:off x="914400" y="56692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FCF1"/>
                </a:solidFill>
              </a:rPr>
              <a:t>·</a:t>
            </a:r>
            <a:endParaRPr lang="en-US" sz="900" dirty="0"/>
          </a:p>
        </p:txBody>
      </p:sp>
      <p:sp>
        <p:nvSpPr>
          <p:cNvPr id="4" name="star_2"/>
          <p:cNvSpPr/>
          <p:nvPr/>
        </p:nvSpPr>
        <p:spPr>
          <a:xfrm>
            <a:off x="7772400" y="6400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45A29E"/>
                </a:solidFill>
              </a:rPr>
              <a:t>·</a:t>
            </a:r>
            <a:endParaRPr lang="en-US" sz="600" dirty="0"/>
          </a:p>
        </p:txBody>
      </p:sp>
      <p:sp>
        <p:nvSpPr>
          <p:cNvPr id="5" name="section_tag"/>
          <p:cNvSpPr/>
          <p:nvPr/>
        </p:nvSpPr>
        <p:spPr>
          <a:xfrm>
            <a:off x="822960" y="457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A29E"/>
                </a:solidFill>
              </a:rPr>
              <a:t>代  码</a:t>
            </a:r>
            <a:endParaRPr lang="en-US" sz="1300" dirty="0"/>
          </a:p>
        </p:txBody>
      </p:sp>
      <p:sp>
        <p:nvSpPr>
          <p:cNvPr id="6" name="year_display"/>
          <p:cNvSpPr/>
          <p:nvPr/>
        </p:nvSpPr>
        <p:spPr>
          <a:xfrm>
            <a:off x="7315200" y="10972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66FCF1"/>
                </a:solidFill>
              </a:rPr>
              <a:t>2024.06</a:t>
            </a:r>
            <a:endParaRPr lang="en-US" sz="5600" dirty="0"/>
          </a:p>
        </p:txBody>
      </p:sp>
      <p:sp>
        <p:nvSpPr>
          <p:cNvPr id="7" name="title_text"/>
          <p:cNvSpPr/>
          <p:nvPr/>
        </p:nvSpPr>
        <p:spPr>
          <a:xfrm>
            <a:off x="822960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DeepSeek-Coder-V2</a:t>
            </a:r>
            <a:endParaRPr lang="en-US" sz="3000" dirty="0"/>
          </a:p>
        </p:txBody>
      </p:sp>
      <p:sp>
        <p:nvSpPr>
          <p:cNvPr id="8" name="body_text"/>
          <p:cNvSpPr/>
          <p:nvPr/>
        </p:nvSpPr>
        <p:spPr>
          <a:xfrm>
            <a:off x="822960" y="310896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基于 V2 架构的代码专用模型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代码能力比肩 GPT-4 Turbo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开源代码模型新标杆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在 HumanEval、MBPP 等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权威基准测试中大幅领先</a:t>
            </a:r>
            <a:endParaRPr lang="en-US" sz="1600" dirty="0"/>
          </a:p>
        </p:txBody>
      </p:sp>
      <p:sp>
        <p:nvSpPr>
          <p:cNvPr id="9" name="highlight_box"/>
          <p:cNvSpPr/>
          <p:nvPr/>
        </p:nvSpPr>
        <p:spPr>
          <a:xfrm>
            <a:off x="7132320" y="4846320"/>
            <a:ext cx="4114800" cy="82296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6FCF1"/>
                </a:solidFill>
              </a:rPr>
              <a:t>开源模型首次在代码领域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66FCF1"/>
                </a:solidFill>
              </a:rPr>
              <a:t>达到闭源顶级水平</a:t>
            </a:r>
            <a:endParaRPr lang="en-US" sz="1500" dirty="0"/>
          </a:p>
        </p:txBody>
      </p:sp>
      <p:sp>
        <p:nvSpPr>
          <p:cNvPr id="10" name="accent_bar"/>
          <p:cNvSpPr/>
          <p:nvPr/>
        </p:nvSpPr>
        <p:spPr>
          <a:xfrm>
            <a:off x="822960" y="5943600"/>
            <a:ext cx="2286000" cy="36576"/>
          </a:xfrm>
          <a:prstGeom prst="rect">
            <a:avLst/>
          </a:prstGeom>
          <a:solidFill>
            <a:srgbClr val="66FC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1" name="page_num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A29E"/>
                </a:solidFill>
              </a:rPr>
              <a:t>08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C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3" name="star_1"/>
          <p:cNvSpPr/>
          <p:nvPr/>
        </p:nvSpPr>
        <p:spPr>
          <a:xfrm>
            <a:off x="3657600" y="6400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C94C"/>
                </a:solidFill>
              </a:rPr>
              <a:t>·</a:t>
            </a:r>
            <a:endParaRPr lang="en-US" sz="1200" dirty="0"/>
          </a:p>
        </p:txBody>
      </p:sp>
      <p:sp>
        <p:nvSpPr>
          <p:cNvPr id="4" name="star_2"/>
          <p:cNvSpPr/>
          <p:nvPr/>
        </p:nvSpPr>
        <p:spPr>
          <a:xfrm>
            <a:off x="11430000" y="5486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CF1"/>
                </a:solidFill>
              </a:rPr>
              <a:t>·</a:t>
            </a:r>
            <a:endParaRPr lang="en-US" sz="800" dirty="0"/>
          </a:p>
        </p:txBody>
      </p:sp>
      <p:sp>
        <p:nvSpPr>
          <p:cNvPr id="5" name="star_3"/>
          <p:cNvSpPr/>
          <p:nvPr/>
        </p:nvSpPr>
        <p:spPr>
          <a:xfrm>
            <a:off x="548640" y="3657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C94C"/>
                </a:solidFill>
              </a:rPr>
              <a:t>·</a:t>
            </a:r>
            <a:endParaRPr lang="en-US" sz="1000" dirty="0"/>
          </a:p>
        </p:txBody>
      </p:sp>
      <p:sp>
        <p:nvSpPr>
          <p:cNvPr id="6" name="section_tag"/>
          <p:cNvSpPr/>
          <p:nvPr/>
        </p:nvSpPr>
        <p:spPr>
          <a:xfrm>
            <a:off x="822960" y="457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</a:rPr>
              <a:t>奇  迹</a:t>
            </a:r>
            <a:endParaRPr lang="en-US" sz="1300" dirty="0"/>
          </a:p>
        </p:txBody>
      </p:sp>
      <p:sp>
        <p:nvSpPr>
          <p:cNvPr id="7" name="year_display"/>
          <p:cNvSpPr/>
          <p:nvPr/>
        </p:nvSpPr>
        <p:spPr>
          <a:xfrm>
            <a:off x="7315200" y="10972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F2C94C"/>
                </a:solidFill>
              </a:rPr>
              <a:t>2024.12</a:t>
            </a:r>
            <a:endParaRPr lang="en-US" sz="5600" dirty="0"/>
          </a:p>
        </p:txBody>
      </p:sp>
      <p:sp>
        <p:nvSpPr>
          <p:cNvPr id="8" name="title_text"/>
          <p:cNvSpPr/>
          <p:nvPr/>
        </p:nvSpPr>
        <p:spPr>
          <a:xfrm>
            <a:off x="822960" y="2377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DeepSeek-V3  震撼问世</a:t>
            </a:r>
            <a:endParaRPr lang="en-US" sz="3000" dirty="0"/>
          </a:p>
        </p:txBody>
      </p:sp>
      <p:sp>
        <p:nvSpPr>
          <p:cNvPr id="9" name="body_text"/>
          <p:cNvSpPr/>
          <p:nvPr/>
        </p:nvSpPr>
        <p:spPr>
          <a:xfrm>
            <a:off x="822960" y="310896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671B 参数 MoE 巨兽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每次推理仅激活 37B 参数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训练成本：$5,580,000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—— 仅为同类模型的 1/10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性能全面对标 GPT-4o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但成本低一个数量级</a:t>
            </a:r>
            <a:endParaRPr lang="en-US" sz="1600" dirty="0"/>
          </a:p>
        </p:txBody>
      </p:sp>
      <p:sp>
        <p:nvSpPr>
          <p:cNvPr id="10" name="highlight_box"/>
          <p:cNvSpPr/>
          <p:nvPr/>
        </p:nvSpPr>
        <p:spPr>
          <a:xfrm>
            <a:off x="6858000" y="5029200"/>
            <a:ext cx="4572000" cy="640080"/>
          </a:xfrm>
          <a:prstGeom prst="rect">
            <a:avLst/>
          </a:prstGeom>
          <a:solidFill>
            <a:srgbClr val="F2C9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0C10"/>
                </a:solidFill>
              </a:rPr>
              <a:t>$5.58M  颠覆行业认知</a:t>
            </a:r>
            <a:endParaRPr lang="en-US" sz="1800" dirty="0"/>
          </a:p>
        </p:txBody>
      </p:sp>
      <p:sp>
        <p:nvSpPr>
          <p:cNvPr id="11" name="accent_bar"/>
          <p:cNvSpPr/>
          <p:nvPr/>
        </p:nvSpPr>
        <p:spPr>
          <a:xfrm>
            <a:off x="822960" y="5943600"/>
            <a:ext cx="2286000" cy="36576"/>
          </a:xfrm>
          <a:prstGeom prst="rect">
            <a:avLst/>
          </a:prstGeom>
          <a:solidFill>
            <a:srgbClr val="F2C9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2" name="page_num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A29E"/>
                </a:solidFill>
              </a:rPr>
              <a:t>09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C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3" name="star_1"/>
          <p:cNvSpPr/>
          <p:nvPr/>
        </p:nvSpPr>
        <p:spPr>
          <a:xfrm>
            <a:off x="1828800" y="914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2C94C"/>
                </a:solidFill>
              </a:rPr>
              <a:t>·</a:t>
            </a:r>
            <a:endParaRPr lang="en-US" sz="1400" dirty="0"/>
          </a:p>
        </p:txBody>
      </p:sp>
      <p:sp>
        <p:nvSpPr>
          <p:cNvPr id="4" name="star_2"/>
          <p:cNvSpPr/>
          <p:nvPr/>
        </p:nvSpPr>
        <p:spPr>
          <a:xfrm>
            <a:off x="10058400" y="5486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C94C"/>
                </a:solidFill>
              </a:rPr>
              <a:t>·</a:t>
            </a:r>
            <a:endParaRPr lang="en-US" sz="1200" dirty="0"/>
          </a:p>
        </p:txBody>
      </p:sp>
      <p:sp>
        <p:nvSpPr>
          <p:cNvPr id="5" name="star_3"/>
          <p:cNvSpPr/>
          <p:nvPr/>
        </p:nvSpPr>
        <p:spPr>
          <a:xfrm>
            <a:off x="6400800" y="4572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FCF1"/>
                </a:solidFill>
              </a:rPr>
              <a:t>·</a:t>
            </a:r>
            <a:endParaRPr lang="en-US" sz="1000" dirty="0"/>
          </a:p>
        </p:txBody>
      </p:sp>
      <p:sp>
        <p:nvSpPr>
          <p:cNvPr id="6" name="star_4"/>
          <p:cNvSpPr/>
          <p:nvPr/>
        </p:nvSpPr>
        <p:spPr>
          <a:xfrm>
            <a:off x="1371600" y="45720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2C94C"/>
                </a:solidFill>
              </a:rPr>
              <a:t>·</a:t>
            </a:r>
            <a:endParaRPr lang="en-US" sz="800" dirty="0"/>
          </a:p>
        </p:txBody>
      </p:sp>
      <p:sp>
        <p:nvSpPr>
          <p:cNvPr id="7" name="section_tag"/>
          <p:cNvSpPr/>
          <p:nvPr/>
        </p:nvSpPr>
        <p:spPr>
          <a:xfrm>
            <a:off x="822960" y="457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94C"/>
                </a:solidFill>
              </a:rPr>
              <a:t>震  撼</a:t>
            </a:r>
            <a:endParaRPr lang="en-US" sz="1300" dirty="0"/>
          </a:p>
        </p:txBody>
      </p:sp>
      <p:sp>
        <p:nvSpPr>
          <p:cNvPr id="8" name="year_display"/>
          <p:cNvSpPr/>
          <p:nvPr/>
        </p:nvSpPr>
        <p:spPr>
          <a:xfrm>
            <a:off x="6400800" y="91440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200" b="1" dirty="0">
                <a:solidFill>
                  <a:srgbClr val="F2C94C"/>
                </a:solidFill>
              </a:rPr>
              <a:t>2025.01.20</a:t>
            </a:r>
            <a:endParaRPr lang="en-US" sz="5200" dirty="0"/>
          </a:p>
        </p:txBody>
      </p:sp>
      <p:sp>
        <p:nvSpPr>
          <p:cNvPr id="9" name="title_text"/>
          <p:cNvSpPr/>
          <p:nvPr/>
        </p:nvSpPr>
        <p:spPr>
          <a:xfrm>
            <a:off x="822960" y="2377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DeepSeek-R1  全球引爆</a:t>
            </a:r>
            <a:endParaRPr lang="en-US" sz="3000" dirty="0"/>
          </a:p>
        </p:txBody>
      </p:sp>
      <p:sp>
        <p:nvSpPr>
          <p:cNvPr id="10" name="body_text"/>
          <p:cNvSpPr/>
          <p:nvPr/>
        </p:nvSpPr>
        <p:spPr>
          <a:xfrm>
            <a:off x="822960" y="310896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671B 参数 · 纯强化学习推理模型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无需大量监督微调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数学/编程/推理能力匹敌 OpenAI o1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MIT 开源许可证 · API 价格仅为 o1 的 3%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全球 AI 行业「斯普特尼克时刻」</a:t>
            </a:r>
            <a:endParaRPr lang="en-US" sz="1600" dirty="0"/>
          </a:p>
        </p:txBody>
      </p:sp>
      <p:sp>
        <p:nvSpPr>
          <p:cNvPr id="11" name="highlight_box"/>
          <p:cNvSpPr/>
          <p:nvPr/>
        </p:nvSpPr>
        <p:spPr>
          <a:xfrm>
            <a:off x="6858000" y="5029200"/>
            <a:ext cx="4572000" cy="640080"/>
          </a:xfrm>
          <a:prstGeom prst="rect">
            <a:avLst/>
          </a:prstGeom>
          <a:solidFill>
            <a:srgbClr val="F2C9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0C10"/>
                </a:solidFill>
              </a:rPr>
              <a:t>🚀  斯普特尼克时刻</a:t>
            </a:r>
            <a:endParaRPr lang="en-US" sz="2000" dirty="0"/>
          </a:p>
        </p:txBody>
      </p:sp>
      <p:sp>
        <p:nvSpPr>
          <p:cNvPr id="12" name="accent_bar"/>
          <p:cNvSpPr/>
          <p:nvPr/>
        </p:nvSpPr>
        <p:spPr>
          <a:xfrm>
            <a:off x="822960" y="5943600"/>
            <a:ext cx="2286000" cy="36576"/>
          </a:xfrm>
          <a:prstGeom prst="rect">
            <a:avLst/>
          </a:prstGeom>
          <a:solidFill>
            <a:srgbClr val="F2C9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3" name="page_num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A29E"/>
                </a:solidFill>
              </a:rPr>
              <a:t>10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C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3" name="star_1"/>
          <p:cNvSpPr/>
          <p:nvPr/>
        </p:nvSpPr>
        <p:spPr>
          <a:xfrm>
            <a:off x="3200400" y="914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B6B"/>
                </a:solidFill>
              </a:rPr>
              <a:t>·</a:t>
            </a:r>
            <a:endParaRPr lang="en-US" sz="1400" dirty="0"/>
          </a:p>
        </p:txBody>
      </p:sp>
      <p:sp>
        <p:nvSpPr>
          <p:cNvPr id="4" name="star_2"/>
          <p:cNvSpPr/>
          <p:nvPr/>
        </p:nvSpPr>
        <p:spPr>
          <a:xfrm>
            <a:off x="9144000" y="5943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6B6B"/>
                </a:solidFill>
              </a:rPr>
              <a:t>·</a:t>
            </a:r>
            <a:endParaRPr lang="en-US" sz="1200" dirty="0"/>
          </a:p>
        </p:txBody>
      </p:sp>
      <p:sp>
        <p:nvSpPr>
          <p:cNvPr id="5" name="star_3"/>
          <p:cNvSpPr/>
          <p:nvPr/>
        </p:nvSpPr>
        <p:spPr>
          <a:xfrm>
            <a:off x="10972800" y="1371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C94C"/>
                </a:solidFill>
              </a:rPr>
              <a:t>·</a:t>
            </a:r>
            <a:endParaRPr lang="en-US" sz="900" dirty="0"/>
          </a:p>
        </p:txBody>
      </p:sp>
      <p:sp>
        <p:nvSpPr>
          <p:cNvPr id="6" name="section_tag"/>
          <p:cNvSpPr/>
          <p:nvPr/>
        </p:nvSpPr>
        <p:spPr>
          <a:xfrm>
            <a:off x="822960" y="457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B6B"/>
                </a:solidFill>
              </a:rPr>
              <a:t>冲  击</a:t>
            </a:r>
            <a:endParaRPr lang="en-US" sz="1300" dirty="0"/>
          </a:p>
        </p:txBody>
      </p:sp>
      <p:sp>
        <p:nvSpPr>
          <p:cNvPr id="7" name="year_display"/>
          <p:cNvSpPr/>
          <p:nvPr/>
        </p:nvSpPr>
        <p:spPr>
          <a:xfrm>
            <a:off x="7772400" y="10972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FF6B6B"/>
                </a:solidFill>
              </a:rPr>
              <a:t>-$600B</a:t>
            </a:r>
            <a:endParaRPr lang="en-US" sz="6400" dirty="0"/>
          </a:p>
        </p:txBody>
      </p:sp>
      <p:sp>
        <p:nvSpPr>
          <p:cNvPr id="8" name="title_text"/>
          <p:cNvSpPr/>
          <p:nvPr/>
        </p:nvSpPr>
        <p:spPr>
          <a:xfrm>
            <a:off x="822960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英伟达单日市值蒸发</a:t>
            </a:r>
            <a:endParaRPr lang="en-US" sz="3000" dirty="0"/>
          </a:p>
        </p:txBody>
      </p:sp>
      <p:sp>
        <p:nvSpPr>
          <p:cNvPr id="9" name="body_text"/>
          <p:cNvSpPr/>
          <p:nvPr/>
        </p:nvSpPr>
        <p:spPr>
          <a:xfrm>
            <a:off x="822960" y="3108960"/>
            <a:ext cx="5943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2025年1月27日 · 黑色星期一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NVIDIA 股价单日暴跌 17%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市值蒸发 $6,000 亿美元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—— 美股史上最大单日跌幅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硅谷震惊 · 白宫紧急关注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"低成本也能造出顶级 AI"</a:t>
            </a:r>
            <a:endParaRPr lang="en-US" sz="1600" dirty="0"/>
          </a:p>
        </p:txBody>
      </p:sp>
      <p:sp>
        <p:nvSpPr>
          <p:cNvPr id="10" name="highlight_box"/>
          <p:cNvSpPr/>
          <p:nvPr/>
        </p:nvSpPr>
        <p:spPr>
          <a:xfrm>
            <a:off x="6858000" y="5212080"/>
            <a:ext cx="4572000" cy="640080"/>
          </a:xfrm>
          <a:prstGeom prst="rect">
            <a:avLst/>
          </a:prstGeom>
          <a:solidFill>
            <a:srgbClr val="3A1A1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📉  史上最大单日市值损失</a:t>
            </a:r>
            <a:endParaRPr lang="en-US" sz="1600" dirty="0"/>
          </a:p>
        </p:txBody>
      </p:sp>
      <p:sp>
        <p:nvSpPr>
          <p:cNvPr id="11" name="accent_bar"/>
          <p:cNvSpPr/>
          <p:nvPr/>
        </p:nvSpPr>
        <p:spPr>
          <a:xfrm>
            <a:off x="822960" y="5943600"/>
            <a:ext cx="2286000" cy="36576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2" name="page_num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A29E"/>
                </a:solidFill>
              </a:rPr>
              <a:t>11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C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3" name="star_1"/>
          <p:cNvSpPr/>
          <p:nvPr/>
        </p:nvSpPr>
        <p:spPr>
          <a:xfrm>
            <a:off x="914400" y="62179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5A29E"/>
                </a:solidFill>
              </a:rPr>
              <a:t>·</a:t>
            </a:r>
            <a:endParaRPr lang="en-US" sz="800" dirty="0"/>
          </a:p>
        </p:txBody>
      </p:sp>
      <p:sp>
        <p:nvSpPr>
          <p:cNvPr id="4" name="star_2"/>
          <p:cNvSpPr/>
          <p:nvPr/>
        </p:nvSpPr>
        <p:spPr>
          <a:xfrm>
            <a:off x="8229600" y="914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C5C6C7"/>
                </a:solidFill>
              </a:rPr>
              <a:t>·</a:t>
            </a:r>
            <a:endParaRPr lang="en-US" sz="700" dirty="0"/>
          </a:p>
        </p:txBody>
      </p:sp>
      <p:sp>
        <p:nvSpPr>
          <p:cNvPr id="5" name="section_tag"/>
          <p:cNvSpPr/>
          <p:nvPr/>
        </p:nvSpPr>
        <p:spPr>
          <a:xfrm>
            <a:off x="822960" y="457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C6C7"/>
                </a:solidFill>
              </a:rPr>
              <a:t>逆  风</a:t>
            </a:r>
            <a:endParaRPr lang="en-US" sz="1300" dirty="0"/>
          </a:p>
        </p:txBody>
      </p:sp>
      <p:sp>
        <p:nvSpPr>
          <p:cNvPr id="6" name="year_display"/>
          <p:cNvSpPr/>
          <p:nvPr/>
        </p:nvSpPr>
        <p:spPr>
          <a:xfrm>
            <a:off x="8229600" y="10972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400" b="1" dirty="0">
                <a:solidFill>
                  <a:srgbClr val="C5C6C7"/>
                </a:solidFill>
              </a:rPr>
              <a:t>2025</a:t>
            </a:r>
            <a:endParaRPr lang="en-US" sz="6400" dirty="0"/>
          </a:p>
        </p:txBody>
      </p:sp>
      <p:sp>
        <p:nvSpPr>
          <p:cNvPr id="7" name="title_text"/>
          <p:cNvSpPr/>
          <p:nvPr/>
        </p:nvSpPr>
        <p:spPr>
          <a:xfrm>
            <a:off x="822960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全球监管围堵</a:t>
            </a:r>
            <a:endParaRPr lang="en-US" sz="3000" dirty="0"/>
          </a:p>
        </p:txBody>
      </p:sp>
      <p:sp>
        <p:nvSpPr>
          <p:cNvPr id="8" name="body_text"/>
          <p:cNvSpPr/>
          <p:nvPr/>
        </p:nvSpPr>
        <p:spPr>
          <a:xfrm>
            <a:off x="822960" y="3108960"/>
            <a:ext cx="5943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隐私与国家安全争议蔓延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美国多州 · 澳大利亚 · 韩国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意大利 · 台湾 · 丹麦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相继出台政府设备禁令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或全面限制使用 DeepSeek</a:t>
            </a:r>
            <a:endParaRPr lang="en-US" sz="1600" dirty="0"/>
          </a:p>
        </p:txBody>
      </p:sp>
      <p:sp>
        <p:nvSpPr>
          <p:cNvPr id="9" name="accent_bar"/>
          <p:cNvSpPr/>
          <p:nvPr/>
        </p:nvSpPr>
        <p:spPr>
          <a:xfrm>
            <a:off x="822960" y="5943600"/>
            <a:ext cx="2286000" cy="36576"/>
          </a:xfrm>
          <a:prstGeom prst="rect">
            <a:avLst/>
          </a:prstGeom>
          <a:solidFill>
            <a:srgbClr val="C5C6C7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0" name="page_num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A29E"/>
                </a:solidFill>
              </a:rPr>
              <a:t>12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C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3" name="star_1"/>
          <p:cNvSpPr/>
          <p:nvPr/>
        </p:nvSpPr>
        <p:spPr>
          <a:xfrm>
            <a:off x="4572000" y="54864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FCF1"/>
                </a:solidFill>
              </a:rPr>
              <a:t>·</a:t>
            </a:r>
            <a:endParaRPr lang="en-US" sz="900" dirty="0"/>
          </a:p>
        </p:txBody>
      </p:sp>
      <p:sp>
        <p:nvSpPr>
          <p:cNvPr id="4" name="star_2"/>
          <p:cNvSpPr/>
          <p:nvPr/>
        </p:nvSpPr>
        <p:spPr>
          <a:xfrm>
            <a:off x="10058400" y="5486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5A29E"/>
                </a:solidFill>
              </a:rPr>
              <a:t>·</a:t>
            </a:r>
            <a:endParaRPr lang="en-US" sz="700" dirty="0"/>
          </a:p>
        </p:txBody>
      </p:sp>
      <p:sp>
        <p:nvSpPr>
          <p:cNvPr id="5" name="section_tag"/>
          <p:cNvSpPr/>
          <p:nvPr/>
        </p:nvSpPr>
        <p:spPr>
          <a:xfrm>
            <a:off x="822960" y="457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5A29E"/>
                </a:solidFill>
              </a:rPr>
              <a:t>迭  代</a:t>
            </a:r>
            <a:endParaRPr lang="en-US" sz="1300" dirty="0"/>
          </a:p>
        </p:txBody>
      </p:sp>
      <p:sp>
        <p:nvSpPr>
          <p:cNvPr id="6" name="year_display"/>
          <p:cNvSpPr/>
          <p:nvPr/>
        </p:nvSpPr>
        <p:spPr>
          <a:xfrm>
            <a:off x="8229600" y="109728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0" b="1" dirty="0">
                <a:solidFill>
                  <a:srgbClr val="66FCF1"/>
                </a:solidFill>
              </a:rPr>
              <a:t>2025</a:t>
            </a:r>
            <a:endParaRPr lang="en-US" sz="6000" dirty="0"/>
          </a:p>
        </p:txBody>
      </p:sp>
      <p:sp>
        <p:nvSpPr>
          <p:cNvPr id="7" name="title_text"/>
          <p:cNvSpPr/>
          <p:nvPr/>
        </p:nvSpPr>
        <p:spPr>
          <a:xfrm>
            <a:off x="822960" y="23774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沉淀与打磨之年</a:t>
            </a:r>
            <a:endParaRPr lang="en-US" sz="3000" dirty="0"/>
          </a:p>
        </p:txBody>
      </p:sp>
      <p:sp>
        <p:nvSpPr>
          <p:cNvPr id="8" name="body_text"/>
          <p:cNvSpPr/>
          <p:nvPr/>
        </p:nvSpPr>
        <p:spPr>
          <a:xfrm>
            <a:off x="822960" y="3108960"/>
            <a:ext cx="5943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R1-0528  5月更新 · R2 推迟发布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—— 梁文锋对性能尚不满意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V3.1  8月 · DeepThink 双模切换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思考模式 / 非思考模式一键切换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V3.2  12月 · 新一代默认版本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5C6C7"/>
                </a:solidFill>
              </a:rPr>
              <a:t>为 V4 时代铺路</a:t>
            </a:r>
            <a:endParaRPr lang="en-US" sz="1600" dirty="0"/>
          </a:p>
        </p:txBody>
      </p:sp>
      <p:sp>
        <p:nvSpPr>
          <p:cNvPr id="9" name="quote_text"/>
          <p:cNvSpPr/>
          <p:nvPr/>
        </p:nvSpPr>
        <p:spPr>
          <a:xfrm>
            <a:off x="822960" y="53035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5A29E"/>
                </a:solidFill>
              </a:rPr>
              <a:t>「我们不急于发布，直到满意为止」</a:t>
            </a:r>
            <a:endParaRPr lang="en-US" sz="1700" dirty="0"/>
          </a:p>
        </p:txBody>
      </p:sp>
      <p:sp>
        <p:nvSpPr>
          <p:cNvPr id="10" name="accent_bar"/>
          <p:cNvSpPr/>
          <p:nvPr/>
        </p:nvSpPr>
        <p:spPr>
          <a:xfrm>
            <a:off x="822960" y="5943600"/>
            <a:ext cx="2286000" cy="36576"/>
          </a:xfrm>
          <a:prstGeom prst="rect">
            <a:avLst/>
          </a:prstGeom>
          <a:solidFill>
            <a:srgbClr val="66FC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1" name="page_num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A29E"/>
                </a:solidFill>
              </a:rPr>
              <a:t>13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C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3" name="star_1"/>
          <p:cNvSpPr/>
          <p:nvPr/>
        </p:nvSpPr>
        <p:spPr>
          <a:xfrm>
            <a:off x="1828800" y="1371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FCF1"/>
                </a:solidFill>
              </a:rPr>
              <a:t>·</a:t>
            </a:r>
            <a:endParaRPr lang="en-US" sz="1400" dirty="0"/>
          </a:p>
        </p:txBody>
      </p:sp>
      <p:sp>
        <p:nvSpPr>
          <p:cNvPr id="4" name="star_2"/>
          <p:cNvSpPr/>
          <p:nvPr/>
        </p:nvSpPr>
        <p:spPr>
          <a:xfrm>
            <a:off x="10972800" y="3657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FCF1"/>
                </a:solidFill>
              </a:rPr>
              <a:t>·</a:t>
            </a:r>
            <a:endParaRPr lang="en-US" sz="1200" dirty="0"/>
          </a:p>
        </p:txBody>
      </p:sp>
      <p:sp>
        <p:nvSpPr>
          <p:cNvPr id="5" name="star_3"/>
          <p:cNvSpPr/>
          <p:nvPr/>
        </p:nvSpPr>
        <p:spPr>
          <a:xfrm>
            <a:off x="731520" y="59436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C94C"/>
                </a:solidFill>
              </a:rPr>
              <a:t>·</a:t>
            </a:r>
            <a:endParaRPr lang="en-US" sz="1000" dirty="0"/>
          </a:p>
        </p:txBody>
      </p:sp>
      <p:sp>
        <p:nvSpPr>
          <p:cNvPr id="6" name="star_4"/>
          <p:cNvSpPr/>
          <p:nvPr/>
        </p:nvSpPr>
        <p:spPr>
          <a:xfrm>
            <a:off x="5486400" y="62179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6FCF1"/>
                </a:solidFill>
              </a:rPr>
              <a:t>·</a:t>
            </a:r>
            <a:endParaRPr lang="en-US" sz="800" dirty="0"/>
          </a:p>
        </p:txBody>
      </p:sp>
      <p:sp>
        <p:nvSpPr>
          <p:cNvPr id="7" name="section_tag"/>
          <p:cNvSpPr/>
          <p:nvPr/>
        </p:nvSpPr>
        <p:spPr>
          <a:xfrm>
            <a:off x="822960" y="4572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FCF1"/>
                </a:solidFill>
              </a:rPr>
              <a:t>新 纪 元</a:t>
            </a:r>
            <a:endParaRPr lang="en-US" sz="1300" dirty="0"/>
          </a:p>
        </p:txBody>
      </p:sp>
      <p:sp>
        <p:nvSpPr>
          <p:cNvPr id="8" name="year_display"/>
          <p:cNvSpPr/>
          <p:nvPr/>
        </p:nvSpPr>
        <p:spPr>
          <a:xfrm>
            <a:off x="7315200" y="109728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600" b="1" dirty="0">
                <a:solidFill>
                  <a:srgbClr val="66FCF1"/>
                </a:solidFill>
              </a:rPr>
              <a:t>2026.04</a:t>
            </a:r>
            <a:endParaRPr lang="en-US" sz="5600" dirty="0"/>
          </a:p>
        </p:txBody>
      </p:sp>
      <p:sp>
        <p:nvSpPr>
          <p:cNvPr id="9" name="title_text"/>
          <p:cNvSpPr/>
          <p:nvPr/>
        </p:nvSpPr>
        <p:spPr>
          <a:xfrm>
            <a:off x="82296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DeepSeek-V4  百万 Token 时代</a:t>
            </a:r>
            <a:endParaRPr lang="en-US" sz="2800" dirty="0"/>
          </a:p>
        </p:txBody>
      </p:sp>
      <p:sp>
        <p:nvSpPr>
          <p:cNvPr id="10" name="body_text"/>
          <p:cNvSpPr/>
          <p:nvPr/>
        </p:nvSpPr>
        <p:spPr>
          <a:xfrm>
            <a:off x="822960" y="310896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5C6C7"/>
                </a:solidFill>
              </a:rPr>
              <a:t>V4-Pro  1.6万亿参数 · 49B 激活/Token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5C6C7"/>
                </a:solidFill>
              </a:rPr>
              <a:t>V4-Flash  2840亿参数 · 13B 激活/Token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5C6C7"/>
                </a:solidFill>
              </a:rPr>
              <a:t>原生 1,000,000 Token 上下文窗口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5C6C7"/>
                </a:solidFill>
              </a:rPr>
              <a:t>MIT 开源许可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5C6C7"/>
                </a:solidFill>
              </a:rPr>
              <a:t>思考模式作为请求参数 · 灵活调用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C5C6C7"/>
                </a:solidFill>
              </a:rPr>
              <a:t>legacy ID 将于 2026.07.24 退役</a:t>
            </a:r>
            <a:endParaRPr lang="en-US" sz="1500" dirty="0"/>
          </a:p>
        </p:txBody>
      </p:sp>
      <p:sp>
        <p:nvSpPr>
          <p:cNvPr id="11" name="highlight_box"/>
          <p:cNvSpPr/>
          <p:nvPr/>
        </p:nvSpPr>
        <p:spPr>
          <a:xfrm>
            <a:off x="6858000" y="5212080"/>
            <a:ext cx="4572000" cy="640080"/>
          </a:xfrm>
          <a:prstGeom prst="rect">
            <a:avLst/>
          </a:prstGeom>
          <a:solidFill>
            <a:srgbClr val="66FC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0C10"/>
                </a:solidFill>
              </a:rPr>
              <a:t>⚡  百万级上下文 · 双轨 MoE</a:t>
            </a:r>
            <a:endParaRPr lang="en-US" sz="1600" dirty="0"/>
          </a:p>
        </p:txBody>
      </p:sp>
      <p:sp>
        <p:nvSpPr>
          <p:cNvPr id="12" name="accent_bar"/>
          <p:cNvSpPr/>
          <p:nvPr/>
        </p:nvSpPr>
        <p:spPr>
          <a:xfrm>
            <a:off x="822960" y="5943600"/>
            <a:ext cx="2286000" cy="36576"/>
          </a:xfrm>
          <a:prstGeom prst="rect">
            <a:avLst/>
          </a:prstGeom>
          <a:solidFill>
            <a:srgbClr val="66FC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3" name="page_num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A29E"/>
                </a:solidFill>
              </a:rPr>
              <a:t>14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C1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3" name="star_1"/>
          <p:cNvSpPr/>
          <p:nvPr/>
        </p:nvSpPr>
        <p:spPr>
          <a:xfrm>
            <a:off x="2743200" y="73152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FCF1"/>
                </a:solidFill>
              </a:rPr>
              <a:t>·</a:t>
            </a:r>
            <a:endParaRPr lang="en-US" sz="1600" dirty="0"/>
          </a:p>
        </p:txBody>
      </p:sp>
      <p:sp>
        <p:nvSpPr>
          <p:cNvPr id="4" name="star_2"/>
          <p:cNvSpPr/>
          <p:nvPr/>
        </p:nvSpPr>
        <p:spPr>
          <a:xfrm>
            <a:off x="9144000" y="54864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FCF1"/>
                </a:solidFill>
              </a:rPr>
              <a:t>·</a:t>
            </a:r>
            <a:endParaRPr lang="en-US" sz="1400" dirty="0"/>
          </a:p>
        </p:txBody>
      </p:sp>
      <p:sp>
        <p:nvSpPr>
          <p:cNvPr id="5" name="star_3"/>
          <p:cNvSpPr/>
          <p:nvPr/>
        </p:nvSpPr>
        <p:spPr>
          <a:xfrm>
            <a:off x="1371600" y="41148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C94C"/>
                </a:solidFill>
              </a:rPr>
              <a:t>·</a:t>
            </a:r>
            <a:endParaRPr lang="en-US" sz="1200" dirty="0"/>
          </a:p>
        </p:txBody>
      </p:sp>
      <p:sp>
        <p:nvSpPr>
          <p:cNvPr id="6" name="star_4"/>
          <p:cNvSpPr/>
          <p:nvPr/>
        </p:nvSpPr>
        <p:spPr>
          <a:xfrm>
            <a:off x="7315200" y="109728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A29E"/>
                </a:solidFill>
              </a:rPr>
              <a:t>·</a:t>
            </a:r>
            <a:endParaRPr lang="en-US" sz="1000" dirty="0"/>
          </a:p>
        </p:txBody>
      </p:sp>
      <p:sp>
        <p:nvSpPr>
          <p:cNvPr id="7" name="star_5"/>
          <p:cNvSpPr/>
          <p:nvPr/>
        </p:nvSpPr>
        <p:spPr>
          <a:xfrm>
            <a:off x="10972800" y="27432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2C94C"/>
                </a:solidFill>
              </a:rPr>
              <a:t>·</a:t>
            </a:r>
            <a:endParaRPr lang="en-US" sz="900" dirty="0"/>
          </a:p>
        </p:txBody>
      </p:sp>
      <p:sp>
        <p:nvSpPr>
          <p:cNvPr id="8" name="closing_main"/>
          <p:cNvSpPr/>
          <p:nvPr/>
        </p:nvSpPr>
        <p:spPr>
          <a:xfrm>
            <a:off x="1371600" y="1097280"/>
            <a:ext cx="9418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66FCF1"/>
                </a:solidFill>
              </a:rPr>
              <a:t>DeepSeek</a:t>
            </a:r>
            <a:endParaRPr lang="en-US" sz="7200" dirty="0"/>
          </a:p>
        </p:txBody>
      </p:sp>
      <p:sp>
        <p:nvSpPr>
          <p:cNvPr id="9" name="closing_cn"/>
          <p:cNvSpPr/>
          <p:nvPr/>
        </p:nvSpPr>
        <p:spPr>
          <a:xfrm>
            <a:off x="1371600" y="246888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深 度 求 索</a:t>
            </a:r>
            <a:endParaRPr lang="en-US" sz="3000" dirty="0"/>
          </a:p>
        </p:txBody>
      </p:sp>
      <p:sp>
        <p:nvSpPr>
          <p:cNvPr id="10" name="accent_bar"/>
          <p:cNvSpPr/>
          <p:nvPr/>
        </p:nvSpPr>
        <p:spPr>
          <a:xfrm>
            <a:off x="4114800" y="3474720"/>
            <a:ext cx="3931920" cy="36576"/>
          </a:xfrm>
          <a:prstGeom prst="rect">
            <a:avLst/>
          </a:prstGeom>
          <a:solidFill>
            <a:srgbClr val="66FC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400" dirty="0"/>
          </a:p>
        </p:txBody>
      </p:sp>
      <p:sp>
        <p:nvSpPr>
          <p:cNvPr id="11" name="closing_slogan"/>
          <p:cNvSpPr/>
          <p:nvPr/>
        </p:nvSpPr>
        <p:spPr>
          <a:xfrm>
            <a:off x="1371600" y="384048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5C6C7"/>
                </a:solidFill>
              </a:rPr>
              <a:t>探索未至之境</a:t>
            </a:r>
            <a:endParaRPr lang="en-US" sz="2400" dirty="0"/>
          </a:p>
        </p:txBody>
      </p:sp>
      <p:sp>
        <p:nvSpPr>
          <p:cNvPr id="12" name="closing_sub"/>
          <p:cNvSpPr/>
          <p:nvPr/>
        </p:nvSpPr>
        <p:spPr>
          <a:xfrm>
            <a:off x="2286000" y="4754880"/>
            <a:ext cx="7589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5A29E"/>
                </a:solidFill>
              </a:rPr>
              <a:t>从 10,000 张 GPU 到百万 Token 上下文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5A29E"/>
                </a:solidFill>
              </a:rPr>
              <a:t>从量化基金到全球 AI 引领者</a:t>
            </a:r>
            <a:endParaRPr lang="en-US" sz="1500" dirty="0"/>
          </a:p>
          <a:p>
            <a:pPr algn="ctr" indent="0" marL="0">
              <a:buNone/>
            </a:pP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5A29E"/>
                </a:solidFill>
              </a:rPr>
              <a:t>The journey continues...</a:t>
            </a:r>
            <a:endParaRPr lang="en-US" sz="1500" dirty="0"/>
          </a:p>
        </p:txBody>
      </p:sp>
      <p:sp>
        <p:nvSpPr>
          <p:cNvPr id="13" name="page_num"/>
          <p:cNvSpPr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5A29E"/>
                </a:solidFill>
              </a:rPr>
              <a:t>15 / 15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2026-06-28T15:34:48Z</dcterms:created>
  <dcterms:modified xsi:type="dcterms:W3CDTF">2026-06-28T15:34:48Z</dcterms:modified>
</cp:coreProperties>
</file>